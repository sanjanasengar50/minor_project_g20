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-1157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l.acm.org/doi/10.1145/3659677.365973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145/3659677.365973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8459797/" TargetMode="External"/><Relationship Id="rId2" Type="http://schemas.openxmlformats.org/officeDocument/2006/relationships/hyperlink" Target="https://www.ijiet.org/vol14/IJIET-V14N4-2074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l.acm.org/doi/10.1145/3659677.3659733" TargetMode="External"/><Relationship Id="rId4" Type="http://schemas.openxmlformats.org/officeDocument/2006/relationships/hyperlink" Target="https://www.sciencedirect.com/science/article/pii/S2949719122000036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647" y="1397479"/>
            <a:ext cx="8915399" cy="207034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  <a:b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Sentiment Analysis of Student Feedback Forms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3694" y="3281226"/>
            <a:ext cx="9079464" cy="3031435"/>
          </a:xfrm>
        </p:spPr>
        <p:txBody>
          <a:bodyPr>
            <a:normAutofit fontScale="925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  <a:r>
              <a:rPr lang="en-IN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GB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Pawan</a:t>
            </a:r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Makhija</a:t>
            </a:r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GB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Priyanshu</a:t>
            </a:r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Sharma (0827IT231104)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r>
              <a:rPr lang="en-GB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Rahul</a:t>
            </a:r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Nagar (0827IT231108)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								</a:t>
            </a:r>
            <a:r>
              <a:rPr lang="en-GB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Prahlad</a:t>
            </a:r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Kumawat</a:t>
            </a:r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(0827IT231099)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								</a:t>
            </a:r>
            <a:r>
              <a:rPr lang="en-IN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Sanjana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Singh </a:t>
            </a:r>
            <a:r>
              <a:rPr lang="en-IN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Sengar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(0827IT243D10)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1.2</a:t>
            </a:r>
            <a:r>
              <a:rPr lang="en-IN" dirty="0"/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Proposed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Theoretical Analysis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6.1</a:t>
            </a:r>
            <a:r>
              <a:rPr lang="en-IN" dirty="0"/>
              <a:t> Block Diagram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6.2</a:t>
            </a:r>
            <a:r>
              <a:rPr lang="en-IN" dirty="0"/>
              <a:t> Hardware Requirements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6.3</a:t>
            </a:r>
            <a:r>
              <a:rPr lang="en-IN" dirty="0"/>
              <a:t> Software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Applications </a:t>
            </a:r>
          </a:p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8.</a:t>
            </a:r>
            <a:r>
              <a:rPr lang="en-IN" dirty="0" smtClean="0">
                <a:solidFill>
                  <a:schemeClr val="accent1"/>
                </a:solidFill>
              </a:rPr>
              <a:t> </a:t>
            </a:r>
            <a:r>
              <a:rPr lang="en-IN" dirty="0" smtClean="0"/>
              <a:t>	</a:t>
            </a:r>
            <a:r>
              <a:rPr lang="en-IN" dirty="0" err="1" smtClean="0"/>
              <a:t>Referance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638" y="414068"/>
            <a:ext cx="8911687" cy="681487"/>
          </a:xfrm>
        </p:spPr>
        <p:txBody>
          <a:bodyPr>
            <a:normAutofit fontScale="90000"/>
          </a:bodyPr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8058" y="1138687"/>
            <a:ext cx="8915400" cy="516722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sz="3600" dirty="0">
                <a:solidFill>
                  <a:schemeClr val="tx1"/>
                </a:solidFill>
              </a:rPr>
              <a:t>1.1 </a:t>
            </a:r>
            <a:r>
              <a:rPr lang="en-IN" sz="3600" dirty="0" smtClean="0">
                <a:solidFill>
                  <a:schemeClr val="tx1"/>
                </a:solidFill>
              </a:rPr>
              <a:t>Overview </a:t>
            </a:r>
          </a:p>
          <a:p>
            <a:pPr algn="just"/>
            <a:r>
              <a:rPr lang="en-GB" sz="2100" dirty="0" smtClean="0"/>
              <a:t>Automatically classifies student feedback into positive, neutral, or negative sentiments using NLP &amp; ML.</a:t>
            </a:r>
          </a:p>
          <a:p>
            <a:pPr algn="just"/>
            <a:r>
              <a:rPr lang="en-GB" sz="2100" dirty="0" smtClean="0"/>
              <a:t>Extracts key themes and recurring concerns from unstructured feedback.</a:t>
            </a:r>
          </a:p>
          <a:p>
            <a:pPr algn="just"/>
            <a:r>
              <a:rPr lang="en-GB" sz="2100" dirty="0" smtClean="0"/>
              <a:t>Generates summarized, </a:t>
            </a:r>
            <a:r>
              <a:rPr lang="en-GB" sz="2100" dirty="0" err="1" smtClean="0"/>
              <a:t>anonymized</a:t>
            </a:r>
            <a:r>
              <a:rPr lang="en-GB" sz="2100" dirty="0" smtClean="0"/>
              <a:t> reports with sentiment breakdowns and keyword trends.</a:t>
            </a:r>
          </a:p>
          <a:p>
            <a:pPr algn="just"/>
            <a:r>
              <a:rPr lang="en-GB" sz="2100" dirty="0" smtClean="0"/>
              <a:t>Provides a secure, user-friendly dashboard for administrators to make data-driven decisions.</a:t>
            </a:r>
          </a:p>
          <a:p>
            <a:pPr algn="just"/>
            <a:endParaRPr lang="en-GB" sz="5600" dirty="0" smtClean="0"/>
          </a:p>
          <a:p>
            <a:pPr marL="0" indent="0" algn="just"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1.2 Purpose</a:t>
            </a:r>
          </a:p>
          <a:p>
            <a:pPr algn="just"/>
            <a:r>
              <a:rPr lang="en-GB" sz="2300" b="1" dirty="0" smtClean="0">
                <a:solidFill>
                  <a:schemeClr val="accent1"/>
                </a:solidFill>
              </a:rPr>
              <a:t>Automates Feedback Review</a:t>
            </a:r>
            <a:r>
              <a:rPr lang="en-GB" sz="2300" dirty="0" smtClean="0">
                <a:solidFill>
                  <a:schemeClr val="accent1"/>
                </a:solidFill>
              </a:rPr>
              <a:t> </a:t>
            </a:r>
            <a:r>
              <a:rPr lang="en-GB" sz="2300" b="1" dirty="0" smtClean="0">
                <a:solidFill>
                  <a:schemeClr val="accent1"/>
                </a:solidFill>
              </a:rPr>
              <a:t>–</a:t>
            </a:r>
            <a:r>
              <a:rPr lang="en-GB" sz="2300" dirty="0" smtClean="0"/>
              <a:t> Saves time by analyzing feedback automatically.</a:t>
            </a:r>
          </a:p>
          <a:p>
            <a:pPr algn="just"/>
            <a:r>
              <a:rPr lang="en-GB" sz="2300" b="1" dirty="0" smtClean="0">
                <a:solidFill>
                  <a:schemeClr val="accent1"/>
                </a:solidFill>
              </a:rPr>
              <a:t>Provides Clear Insights</a:t>
            </a:r>
            <a:r>
              <a:rPr lang="en-GB" sz="2300" dirty="0" smtClean="0">
                <a:solidFill>
                  <a:schemeClr val="accent1"/>
                </a:solidFill>
              </a:rPr>
              <a:t> </a:t>
            </a:r>
            <a:r>
              <a:rPr lang="en-GB" sz="2300" b="1" dirty="0" smtClean="0">
                <a:solidFill>
                  <a:schemeClr val="accent1"/>
                </a:solidFill>
              </a:rPr>
              <a:t>–</a:t>
            </a:r>
            <a:r>
              <a:rPr lang="en-GB" sz="2300" dirty="0" smtClean="0"/>
              <a:t> Detects sentiment (positive/neutral/negative) &amp; key themes.</a:t>
            </a:r>
          </a:p>
          <a:p>
            <a:pPr algn="just"/>
            <a:r>
              <a:rPr lang="en-GB" sz="2300" b="1" dirty="0" smtClean="0">
                <a:solidFill>
                  <a:schemeClr val="accent1"/>
                </a:solidFill>
              </a:rPr>
              <a:t>Supports Better Decisions</a:t>
            </a:r>
            <a:r>
              <a:rPr lang="en-GB" sz="2300" dirty="0" smtClean="0">
                <a:solidFill>
                  <a:schemeClr val="accent1"/>
                </a:solidFill>
              </a:rPr>
              <a:t> </a:t>
            </a:r>
            <a:r>
              <a:rPr lang="en-GB" sz="2300" b="1" dirty="0" smtClean="0">
                <a:solidFill>
                  <a:schemeClr val="accent1"/>
                </a:solidFill>
              </a:rPr>
              <a:t>–</a:t>
            </a:r>
            <a:r>
              <a:rPr lang="en-GB" sz="2300" dirty="0" smtClean="0"/>
              <a:t> Enables data-driven improvements in teaching &amp; curriculum.</a:t>
            </a:r>
          </a:p>
          <a:p>
            <a:pPr algn="just"/>
            <a:r>
              <a:rPr lang="en-GB" sz="2300" b="1" dirty="0" smtClean="0">
                <a:solidFill>
                  <a:schemeClr val="accent1"/>
                </a:solidFill>
              </a:rPr>
              <a:t>Ensures Fairness &amp; Anonymity</a:t>
            </a:r>
            <a:r>
              <a:rPr lang="en-GB" sz="2300" dirty="0" smtClean="0">
                <a:solidFill>
                  <a:schemeClr val="accent1"/>
                </a:solidFill>
              </a:rPr>
              <a:t> </a:t>
            </a:r>
            <a:r>
              <a:rPr lang="en-GB" sz="2300" b="1" dirty="0" smtClean="0">
                <a:solidFill>
                  <a:schemeClr val="accent1"/>
                </a:solidFill>
              </a:rPr>
              <a:t>–</a:t>
            </a:r>
            <a:r>
              <a:rPr lang="en-GB" sz="2300" dirty="0" smtClean="0"/>
              <a:t> Protects student privacy with unbiased reports.</a:t>
            </a:r>
          </a:p>
          <a:p>
            <a:pPr>
              <a:buNone/>
            </a:pPr>
            <a:endParaRPr lang="en-IN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438" y="399823"/>
            <a:ext cx="8911687" cy="1280890"/>
          </a:xfrm>
        </p:spPr>
        <p:txBody>
          <a:bodyPr/>
          <a:lstStyle/>
          <a:p>
            <a:r>
              <a:rPr lang="en-IN" dirty="0"/>
              <a:t>2.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892" y="1329406"/>
            <a:ext cx="8915400" cy="4363278"/>
          </a:xfrm>
        </p:spPr>
        <p:txBody>
          <a:bodyPr/>
          <a:lstStyle/>
          <a:p>
            <a:pPr>
              <a:buNone/>
            </a:pPr>
            <a:endParaRPr lang="en-IN"/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937109" y="1173191"/>
          <a:ext cx="9501516" cy="5051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586"/>
                <a:gridCol w="1583586"/>
                <a:gridCol w="1583586"/>
                <a:gridCol w="1583586"/>
                <a:gridCol w="1583586"/>
                <a:gridCol w="1583586"/>
              </a:tblGrid>
              <a:tr h="8143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GB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Disadvantages</a:t>
                      </a:r>
                    </a:p>
                  </a:txBody>
                  <a:tcPr anchor="ctr"/>
                </a:tc>
              </a:tr>
              <a:tr h="8143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Charalampos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Dervenis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Panos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Fitsilis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Omiros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600" dirty="0" err="1">
                          <a:latin typeface="Times New Roman" pitchFamily="18" charset="0"/>
                          <a:cs typeface="Times New Roman" pitchFamily="18" charset="0"/>
                        </a:rPr>
                        <a:t>Iatrellis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Athanasios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400" dirty="0" err="1">
                          <a:latin typeface="Times New Roman" pitchFamily="18" charset="0"/>
                          <a:cs typeface="Times New Roman" pitchFamily="18" charset="0"/>
                        </a:rPr>
                        <a:t>Koustelios</a:t>
                      </a:r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Sentiment Analysis of Student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NLP-based sentiment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Provides insights into student perception of teaching and curriculum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Limited to specific datasets, may not generalize well</a:t>
                      </a:r>
                    </a:p>
                  </a:txBody>
                  <a:tcPr anchor="ctr"/>
                </a:tc>
              </a:tr>
              <a:tr h="8143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>
                          <a:latin typeface="Times New Roman" pitchFamily="18" charset="0"/>
                          <a:cs typeface="Times New Roman" pitchFamily="18" charset="0"/>
                        </a:rPr>
                        <a:t>F. Dalipi, D. Imran, A. Rehman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Sentiment Analysis in MOOCs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Machine Learning &amp; NLP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Helps in understanding learners’ attitudes in online courses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Data imbalance issues affect accuracy</a:t>
                      </a:r>
                    </a:p>
                  </a:txBody>
                  <a:tcPr anchor="ctr"/>
                </a:tc>
              </a:tr>
              <a:tr h="8143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sz="1400" dirty="0">
                          <a:latin typeface="Times New Roman" pitchFamily="18" charset="0"/>
                          <a:cs typeface="Times New Roman" pitchFamily="18" charset="0"/>
                        </a:rPr>
                        <a:t>T. Shaik,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Sentiment &amp; Opinion Mining in 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Deep Learning &amp; Opinion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Handles large-scale educational data, captures opinions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High computational cost, requires large datasets</a:t>
                      </a:r>
                    </a:p>
                  </a:txBody>
                  <a:tcPr anchor="ctr"/>
                </a:tc>
              </a:tr>
              <a:tr h="8143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latin typeface="Times New Roman" pitchFamily="18" charset="0"/>
                          <a:cs typeface="Times New Roman" pitchFamily="18" charset="0"/>
                        </a:rPr>
                        <a:t>A. Kastrati, A. Imran, F. Dalipi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Online Learning Feedback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latin typeface="Times New Roman" pitchFamily="18" charset="0"/>
                          <a:cs typeface="Times New Roman" pitchFamily="18" charset="0"/>
                        </a:rPr>
                        <a:t>NLP + ML in online education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Enhances quality of e-learning platforms through feedback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itchFamily="18" charset="0"/>
                          <a:cs typeface="Times New Roman" pitchFamily="18" charset="0"/>
                        </a:rPr>
                        <a:t>Domain-specific, limited to online learning only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3.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3371990"/>
          </a:xfrm>
        </p:spPr>
        <p:txBody>
          <a:bodyPr>
            <a:normAutofit/>
          </a:bodyPr>
          <a:lstStyle/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Manual &amp; Subjective Reviews – </a:t>
            </a:r>
            <a:r>
              <a:rPr lang="en-GB" sz="1600" dirty="0" smtClean="0"/>
              <a:t>Student feedback is analyzed manually, making the process slow, inconsistent, and prone to bias.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Overlooked Insights – </a:t>
            </a:r>
            <a:r>
              <a:rPr lang="en-GB" sz="1600" dirty="0" smtClean="0"/>
              <a:t>Critical concerns, recurring themes, and valuable suggestions are often missed due to lack of objectivity.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Inefficient Mechanisms – </a:t>
            </a:r>
            <a:r>
              <a:rPr lang="en-GB" sz="1600" dirty="0" smtClean="0"/>
              <a:t>Traditional feedback systems face low response rates, lack of motivation, and mistrust in their impact.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Limited Analysis – </a:t>
            </a:r>
            <a:r>
              <a:rPr lang="en-GB" sz="1600" dirty="0" smtClean="0"/>
              <a:t>Manual methods fail to capture overall sentiment trends, comparisons across semesters, and key themes.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Privacy Concerns – </a:t>
            </a:r>
            <a:r>
              <a:rPr lang="en-GB" sz="1600" dirty="0" smtClean="0"/>
              <a:t>Current systems often compromise anonymity, accuracy, and timely reporting, discouraging genuine participation.</a:t>
            </a:r>
          </a:p>
          <a:p>
            <a:pPr algn="jus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/>
          </a:bodyPr>
          <a:lstStyle/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Automated Sentiment Classification – </a:t>
            </a:r>
            <a:r>
              <a:rPr lang="en-GB" sz="1600" dirty="0" smtClean="0"/>
              <a:t>Classify student feedback into positive, neutral, or negative using NLP and machine learning.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Theme &amp; Trend Extraction – </a:t>
            </a:r>
            <a:r>
              <a:rPr lang="en-GB" sz="1600" dirty="0" smtClean="0"/>
              <a:t>Identify key issues and improvement areas in teaching, curriculum, and infrastructure.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Summarized Reporting – </a:t>
            </a:r>
            <a:r>
              <a:rPr lang="en-GB" sz="1600" dirty="0" smtClean="0"/>
              <a:t>Generate </a:t>
            </a:r>
            <a:r>
              <a:rPr lang="en-GB" sz="1600" dirty="0" err="1" smtClean="0"/>
              <a:t>anonymized</a:t>
            </a:r>
            <a:r>
              <a:rPr lang="en-GB" sz="1600" dirty="0" smtClean="0"/>
              <a:t> reports with sentiment breakdowns, keyword trends, and semester-wise comparisons.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Privacy &amp; Security – </a:t>
            </a:r>
            <a:r>
              <a:rPr lang="en-GB" sz="1600" dirty="0" smtClean="0"/>
              <a:t>Preserve student anonymity while allowing only authorized staff to review feedback.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User-Friendly Dashboard – </a:t>
            </a:r>
            <a:r>
              <a:rPr lang="en-GB" sz="1600" dirty="0" smtClean="0"/>
              <a:t>Provide administrators with visualization tools for easy decision-making and improved academic quality.</a:t>
            </a:r>
          </a:p>
          <a:p>
            <a:pPr algn="jus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333" y="1700342"/>
            <a:ext cx="8915400" cy="2604239"/>
          </a:xfrm>
        </p:spPr>
        <p:txBody>
          <a:bodyPr>
            <a:normAutofit/>
          </a:bodyPr>
          <a:lstStyle/>
          <a:p>
            <a:r>
              <a:rPr lang="en-GB" sz="1600" dirty="0" smtClean="0"/>
              <a:t>To classify feedback automatically.</a:t>
            </a:r>
          </a:p>
          <a:p>
            <a:r>
              <a:rPr lang="en-GB" sz="1600" dirty="0" smtClean="0"/>
              <a:t>To extract frequently mentioned themes.</a:t>
            </a:r>
          </a:p>
          <a:p>
            <a:r>
              <a:rPr lang="en-GB" sz="1600" dirty="0" smtClean="0"/>
              <a:t>To generate </a:t>
            </a:r>
            <a:r>
              <a:rPr lang="en-GB" sz="1600" dirty="0" err="1" smtClean="0"/>
              <a:t>anonymized</a:t>
            </a:r>
            <a:r>
              <a:rPr lang="en-GB" sz="1600" dirty="0" smtClean="0"/>
              <a:t> reports.</a:t>
            </a:r>
          </a:p>
          <a:p>
            <a:r>
              <a:rPr lang="en-GB" sz="1600" dirty="0" smtClean="0"/>
              <a:t>To help administrators make data-driven decisions.</a:t>
            </a:r>
          </a:p>
          <a:p>
            <a:r>
              <a:rPr lang="en-GB" sz="1600" dirty="0" smtClean="0"/>
              <a:t>To preserve student privacy and ensure fairness.</a:t>
            </a:r>
            <a:endParaRPr lang="en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43" y="399823"/>
            <a:ext cx="8911687" cy="1280890"/>
          </a:xfrm>
        </p:spPr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701396" y="5814205"/>
            <a:ext cx="3260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spcBef>
                <a:spcPts val="1000"/>
              </a:spcBef>
              <a:buClr>
                <a:schemeClr val="accent1"/>
              </a:buClr>
            </a:pP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Block Diagram of  Text Processing</a:t>
            </a:r>
            <a:endParaRPr lang="en-GB" sz="1600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2392" y="1219200"/>
            <a:ext cx="73310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439" y="103517"/>
            <a:ext cx="8911687" cy="707366"/>
          </a:xfrm>
        </p:spPr>
        <p:txBody>
          <a:bodyPr>
            <a:noAutofit/>
          </a:bodyPr>
          <a:lstStyle/>
          <a:p>
            <a:r>
              <a:rPr lang="en-IN" dirty="0"/>
              <a:t>6. Theoretical Analysis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960143" y="1086688"/>
          <a:ext cx="8915400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Hardware Requirements</a:t>
                      </a:r>
                      <a:endParaRPr lang="en-GB" dirty="0" smtClean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GB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Software Requirements</a:t>
                      </a:r>
                      <a:endParaRPr lang="en-GB" sz="1800" b="1" kern="1200" dirty="0" smtClean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endParaRPr lang="en-GB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Processor: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Intel i3</a:t>
                      </a: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Operating System:</a:t>
                      </a:r>
                      <a:r>
                        <a:rPr lang="en-GB" sz="16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Windows</a:t>
                      </a: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RAM: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Minimum 4 GB (8 GB recommended for faster processing)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Hard Disk: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250 GB or more (SSD preferred for better performance)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Frontend: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HTML, CSS, React JS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Backend: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Python 3.13.1</a:t>
                      </a:r>
                    </a:p>
                    <a:p>
                      <a:pPr algn="l"/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Libraries/Frameworks:</a:t>
                      </a:r>
                    </a:p>
                    <a:p>
                      <a:pPr marL="800100" lvl="1" indent="-342900" algn="l">
                        <a:buFont typeface="+mj-lt"/>
                        <a:buAutoNum type="arabicPeriod"/>
                      </a:pP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VADER (Valence Aware Dictionary for Sentiment Reasoning)(for NLP)</a:t>
                      </a:r>
                    </a:p>
                    <a:p>
                      <a:pPr marL="800100" lvl="1" indent="-342900" algn="l">
                        <a:buFont typeface="+mj-lt"/>
                        <a:buAutoNum type="arabicPeriod"/>
                      </a:pP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PyTorch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(for ML)</a:t>
                      </a:r>
                    </a:p>
                    <a:p>
                      <a:pPr marL="800100" lvl="1" indent="-342900" algn="l">
                        <a:buFont typeface="+mj-lt"/>
                        <a:buAutoNum type="arabicPeriod"/>
                      </a:pP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Pandas, </a:t>
                      </a:r>
                      <a:r>
                        <a:rPr lang="en-GB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NumPy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(for data processing)</a:t>
                      </a:r>
                    </a:p>
                    <a:p>
                      <a:pPr marL="800100" lvl="1" indent="-342900" algn="l">
                        <a:buFont typeface="+mj-lt"/>
                        <a:buAutoNum type="arabicPeriod"/>
                      </a:pPr>
                      <a:r>
                        <a:rPr lang="en-GB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Matplotlib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 (for visualization &amp; charts)</a:t>
                      </a:r>
                    </a:p>
                    <a:p>
                      <a:pPr algn="l">
                        <a:buFont typeface="Arial" pitchFamily="34" charset="0"/>
                        <a:buNone/>
                      </a:pPr>
                      <a:endParaRPr lang="en-GB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Report Generation Tools:</a:t>
                      </a:r>
                      <a:r>
                        <a:rPr lang="en-GB" sz="1600" b="1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Matplotlib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GB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Plotly</a:t>
                      </a:r>
                      <a:endParaRPr lang="en-GB" sz="1600" b="1" dirty="0" smtClean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Input Devices: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Keyboard, Mouse</a:t>
                      </a: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Database: </a:t>
                      </a:r>
                      <a:r>
                        <a:rPr lang="en-GB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MySQL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(to store feedback data)</a:t>
                      </a: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Output Devices: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Monitor/Display</a:t>
                      </a: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IDE:</a:t>
                      </a:r>
                      <a:r>
                        <a:rPr lang="en-GB" sz="1600" b="1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VS Code</a:t>
                      </a:r>
                    </a:p>
                    <a:p>
                      <a:endParaRPr lang="en-GB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8850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857" y="667242"/>
            <a:ext cx="8911687" cy="1280890"/>
          </a:xfrm>
        </p:spPr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6133" y="1760727"/>
            <a:ext cx="8915400" cy="4363278"/>
          </a:xfrm>
        </p:spPr>
        <p:txBody>
          <a:bodyPr/>
          <a:lstStyle/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Education Sector – </a:t>
            </a:r>
            <a:r>
              <a:rPr lang="en-GB" sz="1600" dirty="0" smtClean="0"/>
              <a:t>Analyze student feedback to improve teaching quality, curriculum, and campus facilities.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Corporate Training &amp; HR – </a:t>
            </a:r>
            <a:r>
              <a:rPr lang="en-GB" sz="1600" dirty="0" smtClean="0"/>
              <a:t>Understand employee or trainee feedback to enhance workplace culture and training programs.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Customer Service – </a:t>
            </a:r>
            <a:r>
              <a:rPr lang="en-GB" sz="1600" dirty="0" smtClean="0"/>
              <a:t>Evaluate customer reviews to improve products and services.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Healthcare – </a:t>
            </a:r>
            <a:r>
              <a:rPr lang="en-GB" sz="1600" dirty="0" smtClean="0"/>
              <a:t>Analyze patient feedback to improve hospital services and patient experience.</a:t>
            </a:r>
          </a:p>
          <a:p>
            <a:pPr algn="just"/>
            <a:r>
              <a:rPr lang="en-GB" sz="1600" b="1" dirty="0" smtClean="0">
                <a:solidFill>
                  <a:schemeClr val="accent1"/>
                </a:solidFill>
              </a:rPr>
              <a:t>Government &amp; Public Services – </a:t>
            </a:r>
            <a:r>
              <a:rPr lang="en-GB" sz="1600" dirty="0" smtClean="0"/>
              <a:t>Collect and analyze citizen feedback to improve schemes, policies, and public facilities.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6134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299" y="649988"/>
            <a:ext cx="8911687" cy="1280890"/>
          </a:xfrm>
        </p:spPr>
        <p:txBody>
          <a:bodyPr/>
          <a:lstStyle/>
          <a:p>
            <a:r>
              <a:rPr lang="en-IN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sz="1600" dirty="0" smtClean="0">
                <a:hlinkClick r:id="rId2"/>
              </a:rPr>
              <a:t>https://github.com/sanjanasengar50/Minor_Project_G20</a:t>
            </a:r>
            <a:endParaRPr lang="en-IN" sz="1600" dirty="0">
              <a:hlinkClick r:id="rId2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836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/>
          </a:bodyPr>
          <a:lstStyle/>
          <a:p>
            <a:pPr algn="just"/>
            <a:r>
              <a:rPr lang="en-GB" sz="1700" dirty="0" err="1" smtClean="0"/>
              <a:t>Charalampos</a:t>
            </a:r>
            <a:r>
              <a:rPr lang="en-GB" sz="1700" dirty="0" smtClean="0"/>
              <a:t> </a:t>
            </a:r>
            <a:r>
              <a:rPr lang="en-GB" sz="1700" dirty="0" err="1" smtClean="0"/>
              <a:t>Dervenis</a:t>
            </a:r>
            <a:r>
              <a:rPr lang="en-GB" sz="1700" dirty="0" smtClean="0"/>
              <a:t>, </a:t>
            </a:r>
            <a:r>
              <a:rPr lang="en-GB" sz="1700" dirty="0" err="1" smtClean="0"/>
              <a:t>Panos</a:t>
            </a:r>
            <a:r>
              <a:rPr lang="en-GB" sz="1700" dirty="0" smtClean="0"/>
              <a:t> </a:t>
            </a:r>
            <a:r>
              <a:rPr lang="en-GB" sz="1700" dirty="0" err="1" smtClean="0"/>
              <a:t>Fitsilis</a:t>
            </a:r>
            <a:r>
              <a:rPr lang="en-GB" sz="1700" dirty="0" smtClean="0"/>
              <a:t>, </a:t>
            </a:r>
            <a:r>
              <a:rPr lang="en-GB" sz="1700" dirty="0" err="1" smtClean="0"/>
              <a:t>Omiros</a:t>
            </a:r>
            <a:r>
              <a:rPr lang="en-GB" sz="1700" dirty="0" smtClean="0"/>
              <a:t> </a:t>
            </a:r>
            <a:r>
              <a:rPr lang="en-GB" sz="1700" dirty="0" err="1" smtClean="0"/>
              <a:t>Iatrellis</a:t>
            </a:r>
            <a:r>
              <a:rPr lang="en-GB" sz="1700" dirty="0" smtClean="0"/>
              <a:t>, </a:t>
            </a:r>
            <a:r>
              <a:rPr lang="en-GB" sz="1700" dirty="0" err="1" smtClean="0"/>
              <a:t>Athanasios</a:t>
            </a:r>
            <a:r>
              <a:rPr lang="en-GB" sz="1700" dirty="0" smtClean="0"/>
              <a:t> </a:t>
            </a:r>
            <a:r>
              <a:rPr lang="en-GB" sz="1700" dirty="0" err="1" smtClean="0"/>
              <a:t>Koustelios</a:t>
            </a:r>
            <a:r>
              <a:rPr lang="en-GB" sz="1700" dirty="0" smtClean="0"/>
              <a:t>, "A Sentiment Analysis of Student Feedback," Department of Business Administration, University of Thessaly, Larisa, Greece, </a:t>
            </a:r>
            <a:r>
              <a:rPr lang="en-GB" sz="1700" dirty="0" smtClean="0">
                <a:solidFill>
                  <a:srgbClr val="0070C0"/>
                </a:solidFill>
                <a:hlinkClick r:id="rId2"/>
              </a:rPr>
              <a:t>https://www.ijiet.org/vol14/IJIET-V14N4-2074.pdf</a:t>
            </a:r>
            <a:endParaRPr lang="en-GB" sz="1700" dirty="0" smtClean="0">
              <a:solidFill>
                <a:srgbClr val="0070C0"/>
              </a:solidFill>
            </a:endParaRPr>
          </a:p>
          <a:p>
            <a:pPr algn="just"/>
            <a:r>
              <a:rPr lang="en-GB" sz="1700" dirty="0" smtClean="0"/>
              <a:t>F. </a:t>
            </a:r>
            <a:r>
              <a:rPr lang="en-GB" sz="1700" dirty="0" err="1" smtClean="0"/>
              <a:t>Dalipi</a:t>
            </a:r>
            <a:r>
              <a:rPr lang="en-GB" sz="1700" dirty="0" smtClean="0"/>
              <a:t>, D. </a:t>
            </a:r>
            <a:r>
              <a:rPr lang="en-GB" sz="1700" dirty="0" err="1" smtClean="0"/>
              <a:t>Imran</a:t>
            </a:r>
            <a:r>
              <a:rPr lang="en-GB" sz="1700" dirty="0" smtClean="0"/>
              <a:t>, A. </a:t>
            </a:r>
            <a:r>
              <a:rPr lang="en-GB" sz="1700" dirty="0" err="1" smtClean="0"/>
              <a:t>Rehman</a:t>
            </a:r>
            <a:r>
              <a:rPr lang="en-GB" sz="1700" dirty="0" smtClean="0"/>
              <a:t>, "Sentiment Analysis of Students' Feedback in MOOCs," 2021, </a:t>
            </a:r>
            <a:r>
              <a:rPr lang="en-GB" sz="1700" dirty="0" smtClean="0">
                <a:solidFill>
                  <a:srgbClr val="0070C0"/>
                </a:solidFill>
                <a:hlinkClick r:id="rId3"/>
              </a:rPr>
              <a:t>https://pmc.ncbi.nlm.nih.gov/articles/PMC8459797/</a:t>
            </a:r>
            <a:endParaRPr lang="en-GB" sz="1700" dirty="0" smtClean="0">
              <a:solidFill>
                <a:srgbClr val="0070C0"/>
              </a:solidFill>
            </a:endParaRPr>
          </a:p>
          <a:p>
            <a:pPr algn="just"/>
            <a:r>
              <a:rPr lang="en-GB" sz="1700" dirty="0" smtClean="0"/>
              <a:t>T. </a:t>
            </a:r>
            <a:r>
              <a:rPr lang="en-GB" sz="1700" dirty="0" err="1" smtClean="0"/>
              <a:t>Shaik</a:t>
            </a:r>
            <a:r>
              <a:rPr lang="en-GB" sz="1700" dirty="0" smtClean="0"/>
              <a:t>, et al., "Sentiment analysis and opinion mining on educational data," 2023, </a:t>
            </a:r>
            <a:r>
              <a:rPr lang="en-GB" sz="1700" dirty="0" err="1" smtClean="0"/>
              <a:t>ScienceDirect</a:t>
            </a:r>
            <a:r>
              <a:rPr lang="en-GB" sz="1700" dirty="0" smtClean="0"/>
              <a:t>, </a:t>
            </a:r>
            <a:r>
              <a:rPr lang="en-GB" sz="1700" dirty="0" smtClean="0">
                <a:hlinkClick r:id="rId4"/>
              </a:rPr>
              <a:t>https://www.sciencedirect.com/science/article/pii/S2949719122000036</a:t>
            </a:r>
            <a:endParaRPr lang="en-GB" sz="1700" dirty="0" smtClean="0"/>
          </a:p>
          <a:p>
            <a:pPr algn="just"/>
            <a:r>
              <a:rPr lang="en-GB" sz="1700" dirty="0" smtClean="0"/>
              <a:t>A. </a:t>
            </a:r>
            <a:r>
              <a:rPr lang="en-GB" sz="1700" dirty="0" err="1" smtClean="0"/>
              <a:t>Kastrati</a:t>
            </a:r>
            <a:r>
              <a:rPr lang="en-GB" sz="1700" dirty="0" smtClean="0"/>
              <a:t>, A. </a:t>
            </a:r>
            <a:r>
              <a:rPr lang="en-GB" sz="1700" dirty="0" err="1" smtClean="0"/>
              <a:t>Imran</a:t>
            </a:r>
            <a:r>
              <a:rPr lang="en-GB" sz="1700" dirty="0" smtClean="0"/>
              <a:t>, F. </a:t>
            </a:r>
            <a:r>
              <a:rPr lang="en-GB" sz="1700" dirty="0" err="1" smtClean="0"/>
              <a:t>Dalipi</a:t>
            </a:r>
            <a:r>
              <a:rPr lang="en-GB" sz="1700" dirty="0" smtClean="0"/>
              <a:t>, "Sentiment Analysis of  Students Feedback in Online Learning," </a:t>
            </a:r>
            <a:r>
              <a:rPr lang="en-GB" sz="1700" dirty="0" smtClean="0"/>
              <a:t>2022,  ACM  </a:t>
            </a:r>
            <a:r>
              <a:rPr lang="en-GB" sz="1700" dirty="0" smtClean="0"/>
              <a:t>Digital Library, </a:t>
            </a:r>
            <a:r>
              <a:rPr lang="en-GB" sz="1700" dirty="0" smtClean="0">
                <a:hlinkClick r:id="rId5"/>
              </a:rPr>
              <a:t>https://dl.acm.org/doi/10.1145/3659677.3659733</a:t>
            </a:r>
            <a:endParaRPr lang="en-GB" sz="1700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497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559" y="931652"/>
            <a:ext cx="8911687" cy="19927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900" b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  <a:r>
              <a:rPr lang="en-US" b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/>
            </a:r>
            <a:br>
              <a:rPr lang="en-US" b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144" y="2380891"/>
            <a:ext cx="8915400" cy="3285914"/>
          </a:xfrm>
        </p:spPr>
        <p:txBody>
          <a:bodyPr/>
          <a:lstStyle/>
          <a:p>
            <a:pPr>
              <a:buNone/>
            </a:pPr>
            <a:endParaRPr lang="en-IN"/>
          </a:p>
          <a:p>
            <a:pPr algn="ctr">
              <a:buNone/>
            </a:pPr>
            <a:r>
              <a:rPr lang="en-US" sz="800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Queries ?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83607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850</TotalTime>
  <Words>806</Words>
  <Application>Microsoft Office PowerPoint</Application>
  <PresentationFormat>Custom</PresentationFormat>
  <Paragraphs>136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Wisp</vt:lpstr>
      <vt:lpstr>          Synopsis Presentation on  Sentiment Analysis of Student Feedback Forms  </vt:lpstr>
      <vt:lpstr>Contents</vt:lpstr>
      <vt:lpstr>1. Introduction</vt:lpstr>
      <vt:lpstr>2. Literature Review</vt:lpstr>
      <vt:lpstr>3. Problem Statement</vt:lpstr>
      <vt:lpstr>4. Proposed Solution</vt:lpstr>
      <vt:lpstr>5. Objectives</vt:lpstr>
      <vt:lpstr>6. Theoretical Analysis</vt:lpstr>
      <vt:lpstr>6. Theoretical Analysis</vt:lpstr>
      <vt:lpstr>Applications</vt:lpstr>
      <vt:lpstr>GitHub Link</vt:lpstr>
      <vt:lpstr>REFERENCES</vt:lpstr>
      <vt:lpstr>Thank You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Synopsis Presentation on  Sentiment Analysis of Student Feedback Forms  </dc:title>
  <dc:creator>Deepak Singh Chouhan</dc:creator>
  <cp:lastModifiedBy>S Singh</cp:lastModifiedBy>
  <cp:revision>86</cp:revision>
  <dcterms:created xsi:type="dcterms:W3CDTF">2024-09-26T07:25:32Z</dcterms:created>
  <dcterms:modified xsi:type="dcterms:W3CDTF">2025-09-24T15:00:47Z</dcterms:modified>
</cp:coreProperties>
</file>